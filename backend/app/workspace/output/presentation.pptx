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611112"/>
            <a:ext cx="11183112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914400"/>
            <a:ext cx="7269480" cy="4800600"/>
          </a:xfrm>
          <a:prstGeom prst="roundRect">
            <a:avLst/>
          </a:prstGeom>
          <a:solidFill>
            <a:srgbClr val="0F172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68580" cy="48006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234440"/>
            <a:ext cx="2148840" cy="310896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020617"/>
                </a:solidFill>
                <a:latin typeface="Aptos"/>
              </a:rPr>
              <a:t>NOVA /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658368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 i="0">
                <a:solidFill>
                  <a:srgbClr val="F1F5F9"/>
                </a:solidFill>
                <a:latin typeface="Aptos Display"/>
              </a:rPr>
              <a:t>AI in Industrial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65760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94A3B8"/>
                </a:solidFill>
                <a:latin typeface="Aptos"/>
              </a:rPr>
              <a:t>Revolutionizing Manufacturing Processes</a:t>
            </a:r>
          </a:p>
        </p:txBody>
      </p:sp>
      <p:sp>
        <p:nvSpPr>
          <p:cNvPr id="9" name="Oval 8"/>
          <p:cNvSpPr/>
          <p:nvPr/>
        </p:nvSpPr>
        <p:spPr>
          <a:xfrm>
            <a:off x="8549640" y="1234440"/>
            <a:ext cx="2560320" cy="2560320"/>
          </a:xfrm>
          <a:prstGeom prst="ellipse">
            <a:avLst/>
          </a:prstGeom>
          <a:solidFill>
            <a:srgbClr val="16202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15400" y="1600200"/>
            <a:ext cx="1828800" cy="1828800"/>
          </a:xfrm>
          <a:prstGeom prst="ellipse">
            <a:avLst/>
          </a:prstGeom>
          <a:solidFill>
            <a:srgbClr val="080B10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64040" y="2148840"/>
            <a:ext cx="731520" cy="73152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416052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0F0FF"/>
                </a:solidFill>
                <a:latin typeface="Aptos"/>
              </a:rPr>
              <a:t>LOCAL • SECURE • AGENTIC •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647688"/>
            <a:ext cx="9875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1">
                <a:solidFill>
                  <a:srgbClr val="94A3B8"/>
                </a:solidFill>
                <a:latin typeface="Aptos"/>
              </a:rPr>
              <a:t>NOVA  /  SOVEREIGN INDUSTRIAL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60196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0F0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611112"/>
            <a:ext cx="11183112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1752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38BDF8"/>
                </a:solidFill>
                <a:latin typeface="Aptos"/>
              </a:rPr>
              <a:t>///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9875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Aptos Display"/>
              </a:rPr>
              <a:t>Introduction to AI in Industrial 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240280" cy="1828800"/>
          </a:xfrm>
          <a:prstGeom prst="roundRect">
            <a:avLst/>
          </a:prstGeom>
          <a:solidFill>
            <a:srgbClr val="0F1720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1993392"/>
            <a:ext cx="411480" cy="41148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617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78608"/>
            <a:ext cx="1911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1F5F9"/>
                </a:solidFill>
                <a:latin typeface="Aptos"/>
              </a:rPr>
              <a:t>Overview of AI and its role in industrial automation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828800"/>
            <a:ext cx="2240280" cy="1828800"/>
          </a:xfrm>
          <a:prstGeom prst="roundRect">
            <a:avLst/>
          </a:prstGeom>
          <a:solidFill>
            <a:srgbClr val="0F1720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19272" y="1993392"/>
            <a:ext cx="411480" cy="41148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617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9272" y="2578608"/>
            <a:ext cx="1911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1F5F9"/>
                </a:solidFill>
                <a:latin typeface="Aptos"/>
              </a:rPr>
              <a:t>Historical context and current trends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1828800"/>
            <a:ext cx="2240280" cy="1828800"/>
          </a:xfrm>
          <a:prstGeom prst="roundRect">
            <a:avLst/>
          </a:prstGeom>
          <a:solidFill>
            <a:srgbClr val="0F1720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42432" y="1993392"/>
            <a:ext cx="411480" cy="41148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20617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2432" y="2578608"/>
            <a:ext cx="19110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F1F5F9"/>
                </a:solidFill>
                <a:latin typeface="Aptos"/>
              </a:rPr>
              <a:t>Key benefits of integrating AI into manufacturing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664208"/>
            <a:ext cx="3931920" cy="4206240"/>
          </a:xfrm>
          <a:prstGeom prst="roundRect">
            <a:avLst/>
          </a:prstGeom>
          <a:solidFill>
            <a:srgbClr val="0F1720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generated_e3c797a645c85696.png"/>
          <p:cNvPicPr>
            <a:picLocks noChangeAspect="1"/>
          </p:cNvPicPr>
          <p:nvPr/>
        </p:nvPicPr>
        <p:blipFill>
          <a:blip r:embed="rId2"/>
          <a:srcRect l="3502" r="3502"/>
          <a:stretch>
            <a:fillRect/>
          </a:stretch>
        </p:blipFill>
        <p:spPr>
          <a:xfrm>
            <a:off x="7754112" y="1874519"/>
            <a:ext cx="3520440" cy="378561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647688"/>
            <a:ext cx="9875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1">
                <a:solidFill>
                  <a:srgbClr val="94A3B8"/>
                </a:solidFill>
                <a:latin typeface="Aptos"/>
              </a:rPr>
              <a:t>NOVA  /  SOVEREIGN INDUSTRIAL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60196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0F0FF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611112"/>
            <a:ext cx="11183112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1752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38BDF8"/>
                </a:solidFill>
                <a:latin typeface="Aptos"/>
              </a:rPr>
              <a:t>/// 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i="0">
                <a:solidFill>
                  <a:srgbClr val="F1F5F9"/>
                </a:solidFill>
                <a:latin typeface="Aptos Display"/>
              </a:rPr>
              <a:t>AI Technologies for Industrial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0584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669280" cy="4480560"/>
          </a:xfrm>
          <a:prstGeom prst="roundRect">
            <a:avLst/>
          </a:prstGeom>
          <a:solidFill>
            <a:srgbClr val="0F1720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11112" y="1572768"/>
            <a:ext cx="4864608" cy="4480560"/>
          </a:xfrm>
          <a:prstGeom prst="roundRect">
            <a:avLst/>
          </a:prstGeom>
          <a:solidFill>
            <a:srgbClr val="0F1720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33271" y="1847088"/>
            <a:ext cx="1508760" cy="310896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020617"/>
                </a:solidFill>
                <a:latin typeface="Aptos"/>
              </a:rPr>
              <a:t>KEY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59152"/>
            <a:ext cx="4983480" cy="32735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180" b="1">
                <a:solidFill>
                  <a:srgbClr val="00F0FF"/>
                </a:solidFill>
                <a:latin typeface="Aptos"/>
              </a:rPr>
              <a:t>◆</a:t>
            </a:r>
            <a:r>
              <a:rPr sz="1380" b="0" i="0">
                <a:solidFill>
                  <a:srgbClr val="F1F5F9"/>
                </a:solidFill>
                <a:latin typeface="Aptos"/>
              </a:rPr>
              <a:t>Machine Learning Algorithms (Supervised, Unsupervised)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180" b="1">
                <a:solidFill>
                  <a:srgbClr val="00F0FF"/>
                </a:solidFill>
                <a:latin typeface="Aptos"/>
              </a:rPr>
              <a:t>◆</a:t>
            </a:r>
            <a:r>
              <a:rPr sz="1380" b="0" i="0">
                <a:solidFill>
                  <a:srgbClr val="F1F5F9"/>
                </a:solidFill>
                <a:latin typeface="Aptos"/>
              </a:rPr>
              <a:t>Deep Learning Models (Convolutional Neural Networks, Recurrent Neural Networks)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180" b="1">
                <a:solidFill>
                  <a:srgbClr val="00F0FF"/>
                </a:solidFill>
                <a:latin typeface="Aptos"/>
              </a:rPr>
              <a:t>◆</a:t>
            </a:r>
            <a:r>
              <a:rPr sz="1380" b="0" i="0">
                <a:solidFill>
                  <a:srgbClr val="F1F5F9"/>
                </a:solidFill>
                <a:latin typeface="Aptos"/>
              </a:rPr>
              <a:t>Natural Language Processing (NLP) for Process Optimization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76288" y="1856231"/>
            <a:ext cx="4334256" cy="3767328"/>
          </a:xfrm>
          <a:prstGeom prst="roundRect">
            <a:avLst/>
          </a:prstGeom>
          <a:solidFill>
            <a:srgbClr val="02061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enerated_0fc568652f82d0d0.png"/>
          <p:cNvPicPr>
            <a:picLocks noChangeAspect="1"/>
          </p:cNvPicPr>
          <p:nvPr/>
        </p:nvPicPr>
        <p:blipFill>
          <a:blip r:embed="rId2"/>
          <a:srcRect t="6739" b="6739"/>
          <a:stretch>
            <a:fillRect/>
          </a:stretch>
        </p:blipFill>
        <p:spPr>
          <a:xfrm>
            <a:off x="6940296" y="1920240"/>
            <a:ext cx="4206240" cy="36393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49440" y="568756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38BDF8"/>
                </a:solidFill>
                <a:latin typeface="Aptos"/>
              </a:rPr>
              <a:t>LOCAL VISUAL ASSET  /  TOPIC MATCHED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647688"/>
            <a:ext cx="9875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1">
                <a:solidFill>
                  <a:srgbClr val="94A3B8"/>
                </a:solidFill>
                <a:latin typeface="Aptos"/>
              </a:rPr>
              <a:t>NOVA  /  SOVEREIGN INDUSTRIAL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0196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0F0FF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611112"/>
            <a:ext cx="11183112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1752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38BDF8"/>
                </a:solidFill>
                <a:latin typeface="Aptos"/>
              </a:rPr>
              <a:t>/// 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i="0">
                <a:solidFill>
                  <a:srgbClr val="F1F5F9"/>
                </a:solidFill>
                <a:latin typeface="Aptos Display"/>
              </a:rPr>
              <a:t>Applications of AI in Manufacturing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0584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669280" cy="4480560"/>
          </a:xfrm>
          <a:prstGeom prst="roundRect">
            <a:avLst/>
          </a:prstGeom>
          <a:solidFill>
            <a:srgbClr val="0F1720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11112" y="1572768"/>
            <a:ext cx="4864608" cy="4480560"/>
          </a:xfrm>
          <a:prstGeom prst="roundRect">
            <a:avLst/>
          </a:prstGeom>
          <a:solidFill>
            <a:srgbClr val="0F1720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33271" y="1847088"/>
            <a:ext cx="1508760" cy="310896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020617"/>
                </a:solidFill>
                <a:latin typeface="Aptos"/>
              </a:rPr>
              <a:t>KEY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59152"/>
            <a:ext cx="4983480" cy="32735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180" b="1">
                <a:solidFill>
                  <a:srgbClr val="00F0FF"/>
                </a:solidFill>
                <a:latin typeface="Aptos"/>
              </a:rPr>
              <a:t>◆</a:t>
            </a:r>
            <a:r>
              <a:rPr sz="1380" b="0" i="0">
                <a:solidFill>
                  <a:srgbClr val="F1F5F9"/>
                </a:solidFill>
                <a:latin typeface="Aptos"/>
              </a:rPr>
              <a:t>Predictive Maintenance and Equipment Health Monitoring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180" b="1">
                <a:solidFill>
                  <a:srgbClr val="00F0FF"/>
                </a:solidFill>
                <a:latin typeface="Aptos"/>
              </a:rPr>
              <a:t>◆</a:t>
            </a:r>
            <a:r>
              <a:rPr sz="1380" b="0" i="0">
                <a:solidFill>
                  <a:srgbClr val="F1F5F9"/>
                </a:solidFill>
                <a:latin typeface="Aptos"/>
              </a:rPr>
              <a:t>Supply Chain Optimization and Inventory Management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180" b="1">
                <a:solidFill>
                  <a:srgbClr val="00F0FF"/>
                </a:solidFill>
                <a:latin typeface="Aptos"/>
              </a:rPr>
              <a:t>◆</a:t>
            </a:r>
            <a:r>
              <a:rPr sz="1380" b="0" i="0">
                <a:solidFill>
                  <a:srgbClr val="F1F5F9"/>
                </a:solidFill>
                <a:latin typeface="Aptos"/>
              </a:rPr>
              <a:t>Process Optimization and Quality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76288" y="1856231"/>
            <a:ext cx="4334256" cy="3767328"/>
          </a:xfrm>
          <a:prstGeom prst="roundRect">
            <a:avLst/>
          </a:prstGeom>
          <a:solidFill>
            <a:srgbClr val="02061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enerated_1a94017e1ceb9170.png"/>
          <p:cNvPicPr>
            <a:picLocks noChangeAspect="1"/>
          </p:cNvPicPr>
          <p:nvPr/>
        </p:nvPicPr>
        <p:blipFill>
          <a:blip r:embed="rId2"/>
          <a:srcRect t="6739" b="6739"/>
          <a:stretch>
            <a:fillRect/>
          </a:stretch>
        </p:blipFill>
        <p:spPr>
          <a:xfrm>
            <a:off x="6940296" y="1920240"/>
            <a:ext cx="4206240" cy="36393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49440" y="568756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38BDF8"/>
                </a:solidFill>
                <a:latin typeface="Aptos"/>
              </a:rPr>
              <a:t>LOCAL VISUAL ASSET  /  TOPIC MATCHED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647688"/>
            <a:ext cx="9875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1">
                <a:solidFill>
                  <a:srgbClr val="94A3B8"/>
                </a:solidFill>
                <a:latin typeface="Aptos"/>
              </a:rPr>
              <a:t>NOVA  /  SOVEREIGN INDUSTRIAL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0196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0F0FF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611112"/>
            <a:ext cx="11183112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1752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38BDF8"/>
                </a:solidFill>
                <a:latin typeface="Aptos"/>
              </a:rPr>
              <a:t>/// 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i="0">
                <a:solidFill>
                  <a:srgbClr val="F1F5F9"/>
                </a:solidFill>
                <a:latin typeface="Aptos Display"/>
              </a:rPr>
              <a:t>Implementing AI in Industrial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0584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669280" cy="4480560"/>
          </a:xfrm>
          <a:prstGeom prst="roundRect">
            <a:avLst/>
          </a:prstGeom>
          <a:solidFill>
            <a:srgbClr val="0F1720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11112" y="1572768"/>
            <a:ext cx="4864608" cy="4480560"/>
          </a:xfrm>
          <a:prstGeom prst="roundRect">
            <a:avLst/>
          </a:prstGeom>
          <a:solidFill>
            <a:srgbClr val="0F1720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33271" y="1847088"/>
            <a:ext cx="1508760" cy="310896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020617"/>
                </a:solidFill>
                <a:latin typeface="Aptos"/>
              </a:rPr>
              <a:t>KEY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59152"/>
            <a:ext cx="4983480" cy="32735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180" b="1">
                <a:solidFill>
                  <a:srgbClr val="00F0FF"/>
                </a:solidFill>
                <a:latin typeface="Aptos"/>
              </a:rPr>
              <a:t>◆</a:t>
            </a:r>
            <a:r>
              <a:rPr sz="1380" b="0" i="0">
                <a:solidFill>
                  <a:srgbClr val="F1F5F9"/>
                </a:solidFill>
                <a:latin typeface="Aptos"/>
              </a:rPr>
              <a:t>Integration with Existing Systems (PLC, SCADA)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180" b="1">
                <a:solidFill>
                  <a:srgbClr val="00F0FF"/>
                </a:solidFill>
                <a:latin typeface="Aptos"/>
              </a:rPr>
              <a:t>◆</a:t>
            </a:r>
            <a:r>
              <a:rPr sz="1380" b="0" i="0">
                <a:solidFill>
                  <a:srgbClr val="F1F5F9"/>
                </a:solidFill>
                <a:latin typeface="Aptos"/>
              </a:rPr>
              <a:t>Data Collection and Storage Solutions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180" b="1">
                <a:solidFill>
                  <a:srgbClr val="00F0FF"/>
                </a:solidFill>
                <a:latin typeface="Aptos"/>
              </a:rPr>
              <a:t>◆</a:t>
            </a:r>
            <a:r>
              <a:rPr sz="1380" b="0" i="0">
                <a:solidFill>
                  <a:srgbClr val="F1F5F9"/>
                </a:solidFill>
                <a:latin typeface="Aptos"/>
              </a:rPr>
              <a:t>Scalability and Security Considerations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76288" y="1856231"/>
            <a:ext cx="4334256" cy="3767328"/>
          </a:xfrm>
          <a:prstGeom prst="roundRect">
            <a:avLst/>
          </a:prstGeom>
          <a:solidFill>
            <a:srgbClr val="02061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enerated_c1494cf9cb025507.png"/>
          <p:cNvPicPr>
            <a:picLocks noChangeAspect="1"/>
          </p:cNvPicPr>
          <p:nvPr/>
        </p:nvPicPr>
        <p:blipFill>
          <a:blip r:embed="rId2"/>
          <a:srcRect t="6739" b="6739"/>
          <a:stretch>
            <a:fillRect/>
          </a:stretch>
        </p:blipFill>
        <p:spPr>
          <a:xfrm>
            <a:off x="6940296" y="1920240"/>
            <a:ext cx="4206240" cy="36393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49440" y="568756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38BDF8"/>
                </a:solidFill>
                <a:latin typeface="Aptos"/>
              </a:rPr>
              <a:t>LOCAL VISUAL ASSET  /  TOPIC MATCHED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647688"/>
            <a:ext cx="9875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1">
                <a:solidFill>
                  <a:srgbClr val="94A3B8"/>
                </a:solidFill>
                <a:latin typeface="Aptos"/>
              </a:rPr>
              <a:t>NOVA  /  SOVEREIGN INDUSTRIAL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0196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0F0FF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611112"/>
            <a:ext cx="11183112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1752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38BDF8"/>
                </a:solidFill>
                <a:latin typeface="Aptos"/>
              </a:rPr>
              <a:t>/// 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i="0">
                <a:solidFill>
                  <a:srgbClr val="F1F5F9"/>
                </a:solidFill>
                <a:latin typeface="Aptos Display"/>
              </a:rPr>
              <a:t>Challenges in Implementing AI in Industrial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0584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669280" cy="4480560"/>
          </a:xfrm>
          <a:prstGeom prst="roundRect">
            <a:avLst/>
          </a:prstGeom>
          <a:solidFill>
            <a:srgbClr val="0F1720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11112" y="1572768"/>
            <a:ext cx="4864608" cy="4480560"/>
          </a:xfrm>
          <a:prstGeom prst="roundRect">
            <a:avLst/>
          </a:prstGeom>
          <a:solidFill>
            <a:srgbClr val="0F1720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33271" y="1847088"/>
            <a:ext cx="1508760" cy="310896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020617"/>
                </a:solidFill>
                <a:latin typeface="Aptos"/>
              </a:rPr>
              <a:t>KEY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59152"/>
            <a:ext cx="4983480" cy="32735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180" b="1">
                <a:solidFill>
                  <a:srgbClr val="00F0FF"/>
                </a:solidFill>
                <a:latin typeface="Aptos"/>
              </a:rPr>
              <a:t>◆</a:t>
            </a:r>
            <a:r>
              <a:rPr sz="1380" b="0" i="0">
                <a:solidFill>
                  <a:srgbClr val="F1F5F9"/>
                </a:solidFill>
                <a:latin typeface="Aptos"/>
              </a:rPr>
              <a:t>Data Quality and Privacy Concerns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180" b="1">
                <a:solidFill>
                  <a:srgbClr val="00F0FF"/>
                </a:solidFill>
                <a:latin typeface="Aptos"/>
              </a:rPr>
              <a:t>◆</a:t>
            </a:r>
            <a:r>
              <a:rPr sz="1380" b="0" i="0">
                <a:solidFill>
                  <a:srgbClr val="F1F5F9"/>
                </a:solidFill>
                <a:latin typeface="Aptos"/>
              </a:rPr>
              <a:t>Interoperability Issues with Existing Systems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180" b="1">
                <a:solidFill>
                  <a:srgbClr val="00F0FF"/>
                </a:solidFill>
                <a:latin typeface="Aptos"/>
              </a:rPr>
              <a:t>◆</a:t>
            </a:r>
            <a:r>
              <a:rPr sz="1380" b="0" i="0">
                <a:solidFill>
                  <a:srgbClr val="F1F5F9"/>
                </a:solidFill>
                <a:latin typeface="Aptos"/>
              </a:rPr>
              <a:t>Cost-Effectiveness of AI Solutions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76288" y="1856231"/>
            <a:ext cx="4334256" cy="3767328"/>
          </a:xfrm>
          <a:prstGeom prst="roundRect">
            <a:avLst/>
          </a:prstGeom>
          <a:solidFill>
            <a:srgbClr val="02061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enerated_21aa9d4f8addedb8.png"/>
          <p:cNvPicPr>
            <a:picLocks noChangeAspect="1"/>
          </p:cNvPicPr>
          <p:nvPr/>
        </p:nvPicPr>
        <p:blipFill>
          <a:blip r:embed="rId2"/>
          <a:srcRect t="6739" b="6739"/>
          <a:stretch>
            <a:fillRect/>
          </a:stretch>
        </p:blipFill>
        <p:spPr>
          <a:xfrm>
            <a:off x="6940296" y="1920240"/>
            <a:ext cx="4206240" cy="36393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49440" y="568756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38BDF8"/>
                </a:solidFill>
                <a:latin typeface="Aptos"/>
              </a:rPr>
              <a:t>LOCAL VISUAL ASSET  /  TOPIC MATCHED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647688"/>
            <a:ext cx="9875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1">
                <a:solidFill>
                  <a:srgbClr val="94A3B8"/>
                </a:solidFill>
                <a:latin typeface="Aptos"/>
              </a:rPr>
              <a:t>NOVA  /  SOVEREIGN INDUSTRIAL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0196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0F0FF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611112"/>
            <a:ext cx="11183112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1752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38BDF8"/>
                </a:solidFill>
                <a:latin typeface="Aptos"/>
              </a:rPr>
              <a:t>/// 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i="0">
                <a:solidFill>
                  <a:srgbClr val="F1F5F9"/>
                </a:solidFill>
                <a:latin typeface="Aptos Display"/>
              </a:rPr>
              <a:t>Future Trends in AI for Industrial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0584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669280" cy="4480560"/>
          </a:xfrm>
          <a:prstGeom prst="roundRect">
            <a:avLst/>
          </a:prstGeom>
          <a:solidFill>
            <a:srgbClr val="0F1720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11112" y="1572768"/>
            <a:ext cx="4864608" cy="4480560"/>
          </a:xfrm>
          <a:prstGeom prst="roundRect">
            <a:avLst/>
          </a:prstGeom>
          <a:solidFill>
            <a:srgbClr val="0F1720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33271" y="1847088"/>
            <a:ext cx="1508760" cy="310896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020617"/>
                </a:solidFill>
                <a:latin typeface="Aptos"/>
              </a:rPr>
              <a:t>KEY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59152"/>
            <a:ext cx="4983480" cy="32735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180" b="1">
                <a:solidFill>
                  <a:srgbClr val="00F0FF"/>
                </a:solidFill>
                <a:latin typeface="Aptos"/>
              </a:rPr>
              <a:t>◆</a:t>
            </a:r>
            <a:r>
              <a:rPr sz="1380" b="0" i="0">
                <a:solidFill>
                  <a:srgbClr val="F1F5F9"/>
                </a:solidFill>
                <a:latin typeface="Aptos"/>
              </a:rPr>
              <a:t>Edge Computing and Real-Time Processing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180" b="1">
                <a:solidFill>
                  <a:srgbClr val="00F0FF"/>
                </a:solidFill>
                <a:latin typeface="Aptos"/>
              </a:rPr>
              <a:t>◆</a:t>
            </a:r>
            <a:r>
              <a:rPr sz="1380" b="0" i="0">
                <a:solidFill>
                  <a:srgbClr val="F1F5F9"/>
                </a:solidFill>
                <a:latin typeface="Aptos"/>
              </a:rPr>
              <a:t>AI-driven Decision Support Systems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180" b="1">
                <a:solidFill>
                  <a:srgbClr val="00F0FF"/>
                </a:solidFill>
                <a:latin typeface="Aptos"/>
              </a:rPr>
              <a:t>◆</a:t>
            </a:r>
            <a:r>
              <a:rPr sz="1380" b="0" i="0">
                <a:solidFill>
                  <a:srgbClr val="F1F5F9"/>
                </a:solidFill>
                <a:latin typeface="Aptos"/>
              </a:rPr>
              <a:t>Integration with IoT Devices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76288" y="1856231"/>
            <a:ext cx="4334256" cy="3767328"/>
          </a:xfrm>
          <a:prstGeom prst="roundRect">
            <a:avLst/>
          </a:prstGeom>
          <a:solidFill>
            <a:srgbClr val="02061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enerated_44e807d11e0a8c5c.png"/>
          <p:cNvPicPr>
            <a:picLocks noChangeAspect="1"/>
          </p:cNvPicPr>
          <p:nvPr/>
        </p:nvPicPr>
        <p:blipFill>
          <a:blip r:embed="rId2"/>
          <a:srcRect t="6739" b="6739"/>
          <a:stretch>
            <a:fillRect/>
          </a:stretch>
        </p:blipFill>
        <p:spPr>
          <a:xfrm>
            <a:off x="6940296" y="1920240"/>
            <a:ext cx="4206240" cy="36393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49440" y="568756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38BDF8"/>
                </a:solidFill>
                <a:latin typeface="Aptos"/>
              </a:rPr>
              <a:t>LOCAL VISUAL ASSET  /  TOPIC MATCHED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647688"/>
            <a:ext cx="9875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1">
                <a:solidFill>
                  <a:srgbClr val="94A3B8"/>
                </a:solidFill>
                <a:latin typeface="Aptos"/>
              </a:rPr>
              <a:t>NOVA  /  SOVEREIGN INDUSTRIAL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0196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0F0FF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611112"/>
            <a:ext cx="11183112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1752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38BDF8"/>
                </a:solidFill>
                <a:latin typeface="Aptos"/>
              </a:rPr>
              <a:t>/// SECTION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i="0">
                <a:solidFill>
                  <a:srgbClr val="F1F5F9"/>
                </a:solidFill>
                <a:latin typeface="Aptos Display"/>
              </a:rPr>
              <a:t>Conclusion: The Future of AI in Manufacturing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0584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669280" cy="4480560"/>
          </a:xfrm>
          <a:prstGeom prst="roundRect">
            <a:avLst/>
          </a:prstGeom>
          <a:solidFill>
            <a:srgbClr val="0F1720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11112" y="1572768"/>
            <a:ext cx="4864608" cy="4480560"/>
          </a:xfrm>
          <a:prstGeom prst="roundRect">
            <a:avLst/>
          </a:prstGeom>
          <a:solidFill>
            <a:srgbClr val="0F1720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33271" y="1847088"/>
            <a:ext cx="1508760" cy="310896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020617"/>
                </a:solidFill>
                <a:latin typeface="Aptos"/>
              </a:rPr>
              <a:t>KEY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59152"/>
            <a:ext cx="4983480" cy="32735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180" b="1">
                <a:solidFill>
                  <a:srgbClr val="00F0FF"/>
                </a:solidFill>
                <a:latin typeface="Aptos"/>
              </a:rPr>
              <a:t>◆</a:t>
            </a:r>
            <a:r>
              <a:rPr sz="1380" b="0" i="0">
                <a:solidFill>
                  <a:srgbClr val="F1F5F9"/>
                </a:solidFill>
                <a:latin typeface="Aptos"/>
              </a:rPr>
              <a:t>AI as a Game-Changer in Industrial Automation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180" b="1">
                <a:solidFill>
                  <a:srgbClr val="00F0FF"/>
                </a:solidFill>
                <a:latin typeface="Aptos"/>
              </a:rPr>
              <a:t>◆</a:t>
            </a:r>
            <a:r>
              <a:rPr sz="1380" b="0" i="0">
                <a:solidFill>
                  <a:srgbClr val="F1F5F9"/>
                </a:solidFill>
                <a:latin typeface="Aptos"/>
              </a:rPr>
              <a:t>Strategic Planning for AI Adoption in Manufacturing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180" b="1">
                <a:solidFill>
                  <a:srgbClr val="00F0FF"/>
                </a:solidFill>
                <a:latin typeface="Aptos"/>
              </a:rPr>
              <a:t>◆</a:t>
            </a:r>
            <a:r>
              <a:rPr sz="1380" b="0" i="0">
                <a:solidFill>
                  <a:srgbClr val="F1F5F9"/>
                </a:solidFill>
                <a:latin typeface="Aptos"/>
              </a:rPr>
              <a:t>Continuous Learning and Adaptation in the Industry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76288" y="1856231"/>
            <a:ext cx="4334256" cy="3767328"/>
          </a:xfrm>
          <a:prstGeom prst="roundRect">
            <a:avLst/>
          </a:prstGeom>
          <a:solidFill>
            <a:srgbClr val="020617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enerated_f2067d5557502014.png"/>
          <p:cNvPicPr>
            <a:picLocks noChangeAspect="1"/>
          </p:cNvPicPr>
          <p:nvPr/>
        </p:nvPicPr>
        <p:blipFill>
          <a:blip r:embed="rId2"/>
          <a:srcRect t="6739" b="6739"/>
          <a:stretch>
            <a:fillRect/>
          </a:stretch>
        </p:blipFill>
        <p:spPr>
          <a:xfrm>
            <a:off x="6940296" y="1920240"/>
            <a:ext cx="4206240" cy="36393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49440" y="568756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38BDF8"/>
                </a:solidFill>
                <a:latin typeface="Aptos"/>
              </a:rPr>
              <a:t>LOCAL VISUAL ASSET  /  TOPIC MATCHED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647688"/>
            <a:ext cx="9875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1">
                <a:solidFill>
                  <a:srgbClr val="94A3B8"/>
                </a:solidFill>
                <a:latin typeface="Aptos"/>
              </a:rPr>
              <a:t>NOVA  /  SOVEREIGN INDUSTRIAL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0196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0F0FF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Industrial Automation</dc:title>
  <dc:subject>Generated locally by NOVA</dc:subject>
  <dc:creator>NOVA Sovereign Intelligence</dc:creator>
  <cp:keywords>NOVA, AI, industrial automation, agentic AI, sovereign intelligence, local image generation, SD Turbo</cp:keywords>
  <dc:description>Generated inside NOVA's controlled local workspace. Topic-aware visuals are rendered locally.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